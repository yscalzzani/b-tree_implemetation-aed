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Lora" pitchFamily="2" charset="0"/>
      <p:regular r:id="rId22"/>
      <p:bold r:id="rId23"/>
      <p: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855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nd"/>
          <p:cNvSpPr/>
          <p:nvPr/>
        </p:nvSpPr>
        <p:spPr>
          <a:xfrm>
            <a:off x="0" y="0"/>
            <a:ext cx="120650" cy="5143500"/>
          </a:xfrm>
          <a:prstGeom prst="rect">
            <a:avLst/>
          </a:prstGeom>
          <a:solidFill>
            <a:srgbClr val="1A3C2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Institution"/>
          <p:cNvSpPr/>
          <p:nvPr/>
        </p:nvSpPr>
        <p:spPr>
          <a:xfrm>
            <a:off x="640080" y="480060"/>
            <a:ext cx="78638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150" b="1" dirty="0">
                <a:solidFill>
                  <a:srgbClr val="2C6E49"/>
                </a:solidFill>
                <a:latin typeface="Cambria" pitchFamily="18" charset="0"/>
              </a:rPr>
              <a:t>PROGRAMA DE PÓS-GRADUAÇÃO EM CIÊNCIA APLICADA — DCM</a:t>
            </a:r>
          </a:p>
        </p:txBody>
      </p:sp>
      <p:sp>
        <p:nvSpPr>
          <p:cNvPr id="4" name="Discipline"/>
          <p:cNvSpPr/>
          <p:nvPr/>
        </p:nvSpPr>
        <p:spPr>
          <a:xfrm>
            <a:off x="640080" y="780060"/>
            <a:ext cx="786384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050" dirty="0">
                <a:solidFill>
                  <a:srgbClr val="6B6B6B"/>
                </a:solidFill>
                <a:latin typeface="Calibri" pitchFamily="34" charset="0"/>
              </a:rPr>
              <a:t>Algoritmos e Estruturas de Dados</a:t>
            </a:r>
          </a:p>
        </p:txBody>
      </p:sp>
      <p:sp>
        <p:nvSpPr>
          <p:cNvPr id="5" name="SepTop"/>
          <p:cNvSpPr/>
          <p:nvPr/>
        </p:nvSpPr>
        <p:spPr>
          <a:xfrm>
            <a:off x="4216400" y="1300000"/>
            <a:ext cx="711200" cy="28575"/>
          </a:xfrm>
          <a:prstGeom prst="rect">
            <a:avLst/>
          </a:prstGeom>
          <a:solidFill>
            <a:srgbClr val="2C6E49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MainTitle"/>
          <p:cNvSpPr/>
          <p:nvPr/>
        </p:nvSpPr>
        <p:spPr>
          <a:xfrm>
            <a:off x="817880" y="1540000"/>
            <a:ext cx="7508240" cy="1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pt-BR" sz="3600" b="1" dirty="0">
                <a:solidFill>
                  <a:srgbClr val="1A3C2D"/>
                </a:solidFill>
                <a:latin typeface="Cambria" pitchFamily="18" charset="0"/>
              </a:rPr>
              <a:t>Desenvolvimento de Árvore-B em Memória Secundária</a:t>
            </a:r>
          </a:p>
        </p:txBody>
      </p:sp>
      <p:sp>
        <p:nvSpPr>
          <p:cNvPr id="7" name="Subtitle"/>
          <p:cNvSpPr/>
          <p:nvPr/>
        </p:nvSpPr>
        <p:spPr>
          <a:xfrm>
            <a:off x="817880" y="2760000"/>
            <a:ext cx="750824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300" i="1" dirty="0">
                <a:solidFill>
                  <a:srgbClr val="6B6B6B"/>
                </a:solidFill>
                <a:latin typeface="Calibri" pitchFamily="34" charset="0"/>
              </a:rPr>
              <a:t>Trabalho de implementação e análise de desempenho</a:t>
            </a:r>
          </a:p>
        </p:txBody>
      </p:sp>
      <p:sp>
        <p:nvSpPr>
          <p:cNvPr id="8" name="AuthorsLabel"/>
          <p:cNvSpPr/>
          <p:nvPr/>
        </p:nvSpPr>
        <p:spPr>
          <a:xfrm>
            <a:off x="817880" y="3500000"/>
            <a:ext cx="750824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2C6E49"/>
                </a:solidFill>
                <a:latin typeface="Calibri" pitchFamily="34" charset="0"/>
              </a:rPr>
              <a:t>AUTORES</a:t>
            </a:r>
          </a:p>
        </p:txBody>
      </p:sp>
      <p:sp>
        <p:nvSpPr>
          <p:cNvPr id="9" name="AuthorsNames"/>
          <p:cNvSpPr/>
          <p:nvPr/>
        </p:nvSpPr>
        <p:spPr>
          <a:xfrm>
            <a:off x="817880" y="3760000"/>
            <a:ext cx="750824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500" dirty="0">
                <a:solidFill>
                  <a:srgbClr val="1A3C2D"/>
                </a:solidFill>
                <a:latin typeface="Calibri" pitchFamily="34" charset="0"/>
              </a:rPr>
              <a:t>Caio Uehara • Yuri Calzzani • Igor</a:t>
            </a:r>
          </a:p>
        </p:txBody>
      </p:sp>
      <p:sp>
        <p:nvSpPr>
          <p:cNvPr id="10" name="AdvisorsLabel"/>
          <p:cNvSpPr/>
          <p:nvPr/>
        </p:nvSpPr>
        <p:spPr>
          <a:xfrm>
            <a:off x="817880" y="4280000"/>
            <a:ext cx="750824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000" b="1" dirty="0">
                <a:solidFill>
                  <a:srgbClr val="2C6E49"/>
                </a:solidFill>
                <a:latin typeface="Calibri" pitchFamily="34" charset="0"/>
              </a:rPr>
              <a:t>ORIENTAÇÃO</a:t>
            </a:r>
          </a:p>
        </p:txBody>
      </p:sp>
      <p:sp>
        <p:nvSpPr>
          <p:cNvPr id="11" name="AdvisorsNames"/>
          <p:cNvSpPr/>
          <p:nvPr/>
        </p:nvSpPr>
        <p:spPr>
          <a:xfrm>
            <a:off x="817880" y="4520000"/>
            <a:ext cx="750824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250" i="1" dirty="0">
                <a:solidFill>
                  <a:srgbClr val="888076"/>
                </a:solidFill>
                <a:latin typeface="Calibri" pitchFamily="34" charset="0"/>
              </a:rPr>
              <a:t>A preencher pelos integrantes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1174" y="1352624"/>
            <a:ext cx="178869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633240"/>
            <a:ext cx="48704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Decisões de Implementação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430587"/>
            <a:ext cx="23991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Armazenamento da Raiz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793802"/>
            <a:ext cx="3902943" cy="912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raiz é mantida de forma dupla: em memória via atributo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rootID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(btree.h L21) e em disco no registro físico 0. O cabeçalho é atualizado em 4 momentos: criação, split, colapso e carregamento via fixture.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430587"/>
            <a:ext cx="24886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Reaproveitamento de Nós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793802"/>
            <a:ext cx="390294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Não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100" b="1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implementado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10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Não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há free list, pilha, fila ou bitmap. O método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allocateNode()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sempre aloca ao fim do arquivo, gerando crescimento contínuo mesmo após remoções.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1174" y="636984"/>
            <a:ext cx="17909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17600"/>
            <a:ext cx="438886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Métodos Implementados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73188"/>
            <a:ext cx="283518" cy="283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0338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Classe BTree&lt;M&gt;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340397"/>
            <a:ext cx="3987254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Operações principais: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removeRecursive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borrowFromLeft/Right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mergeChildren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loadFromFile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73188"/>
            <a:ext cx="283518" cy="283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0338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BTreeNode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2340397"/>
            <a:ext cx="3987329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Inicializa nó vazio e implementa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findIndex(key)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para localizar posição de chave ou ponto de inserção.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18644"/>
            <a:ext cx="283518" cy="283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7793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DiskManager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6119" y="4085853"/>
            <a:ext cx="3987254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Contadores de I/O: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incrementRead/Write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getReadCount/WriteCount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resetCounters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getFileSize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318644"/>
            <a:ext cx="283518" cy="283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77934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Módulo Display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660553" y="4085853"/>
            <a:ext cx="3987329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Visualização: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displayTree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displayLevelOrder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dumpFile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displaySearchResult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1174" y="824657"/>
            <a:ext cx="178921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05272"/>
            <a:ext cx="433923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Análises e Experimentos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902619"/>
            <a:ext cx="30369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Testes Unitários (test_btree.cpp)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265834"/>
            <a:ext cx="3902943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Validam as 3 operações principais com fixtures textuais. Cada caso roda em processo filho (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 para isolar crashes.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2851770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search():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11 casos — chaves presentes, ausentes e árvore vazia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insert():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7 casos — folha com espaço, duplicata, split simples e em cascata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remove():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9 casos — folha, underflow, merge, colapso da raiz, chave ausente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1902619"/>
            <a:ext cx="39029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Experimentos de Desempenho (run_experiments.sh)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48729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Avalia apenas inserção. Matriz de 24 execuções: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284165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Ordens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M: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3, 100, 1000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Volumes: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1K, 10K, 50K, 100K chaves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Padrões</a:t>
            </a: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110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Sequencial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Aleatório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93159" y="463376"/>
            <a:ext cx="1623268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✅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18745" y="697632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Métricas Utilizadas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18745" y="1247924"/>
            <a:ext cx="5491385" cy="878979"/>
          </a:xfrm>
          <a:prstGeom prst="roundRect">
            <a:avLst>
              <a:gd name="adj" fmla="val 211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42718" y="1371898"/>
            <a:ext cx="18029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 / numKeys / tipo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2718" y="1630859"/>
            <a:ext cx="520308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Ordem da árvore, quantidade de chaves inseridas e padrão de geração (Seq ou Rand).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18745" y="2235398"/>
            <a:ext cx="5491385" cy="878979"/>
          </a:xfrm>
          <a:prstGeom prst="roundRect">
            <a:avLst>
              <a:gd name="adj" fmla="val 2117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742718" y="2359372"/>
            <a:ext cx="18029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reads / writes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2718" y="2618333"/>
            <a:ext cx="5203084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Leituras e escritas lógicas de nós em disco, incrementadas em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readNode()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writeNode()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8745" y="3222873"/>
            <a:ext cx="5491385" cy="692944"/>
          </a:xfrm>
          <a:prstGeom prst="roundRect">
            <a:avLst>
              <a:gd name="adj" fmla="val 268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42718" y="3346847"/>
            <a:ext cx="18029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tempo_s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42718" y="3605808"/>
            <a:ext cx="520308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Tempo total de inserção em segundos via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std::chrono::high_resolution_clock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8745" y="4024313"/>
            <a:ext cx="5491385" cy="692944"/>
          </a:xfrm>
          <a:prstGeom prst="roundRect">
            <a:avLst>
              <a:gd name="adj" fmla="val 2685"/>
            </a:avLst>
          </a:prstGeom>
          <a:solidFill>
            <a:srgbClr val="F0ED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742718" y="4148286"/>
            <a:ext cx="18029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tamanho_bytes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42718" y="4407247"/>
            <a:ext cx="520308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Tamanho final do arquivo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.dat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em bytes via </a:t>
            </a:r>
            <a:r>
              <a:rPr lang="en-US" sz="9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DiskManager::getFileSize()</a:t>
            </a: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1918" y="442913"/>
            <a:ext cx="1604442" cy="173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⚠️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13333"/>
            <a:ext cx="4924871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Resultados dos Experimentos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73696"/>
            <a:ext cx="4759151" cy="31271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89687" y="1457548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Observações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89687" y="1797397"/>
            <a:ext cx="3062883" cy="1171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Reads e writes são sempre iguais ao número de chaves inseridas (N reads, N+1 writes), independente de M ou padrão de entrada.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Ordens maiores (M=1000) apresentam tempo significativamente maior por nó maior em disco.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589687" y="3113708"/>
            <a:ext cx="3062883" cy="937245"/>
          </a:xfrm>
          <a:prstGeom prst="roundRect">
            <a:avLst>
              <a:gd name="adj" fmla="val 2163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748" y="3316635"/>
            <a:ext cx="168846" cy="1350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28655" y="3263280"/>
            <a:ext cx="2488853" cy="638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Bug:</a:t>
            </a:r>
            <a:r>
              <a:rPr lang="en-US" sz="10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coluna </a:t>
            </a:r>
            <a:r>
              <a:rPr lang="en-US" sz="1050" dirty="0">
                <a:solidFill>
                  <a:srgbClr val="000000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tamanho_bytes</a:t>
            </a:r>
            <a:r>
              <a:rPr lang="en-US" sz="10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zerada em todos os 24 cenários — arquivo fechado antes da medição.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5936" y="607713"/>
            <a:ext cx="170490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93091"/>
            <a:ext cx="50862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</a:rPr>
              <a:t>Uso de IA no </a:t>
            </a:r>
            <a:r>
              <a:rPr lang="en-US" sz="2750" dirty="0" err="1">
                <a:solidFill>
                  <a:srgbClr val="233E32"/>
                </a:solidFill>
                <a:latin typeface="Alice" pitchFamily="34" charset="0"/>
              </a:rPr>
              <a:t>trabalho</a:t>
            </a:r>
            <a:r>
              <a:rPr lang="en-US" sz="2750" dirty="0">
                <a:solidFill>
                  <a:srgbClr val="233E32"/>
                </a:solidFill>
                <a:latin typeface="Alice" pitchFamily="34" charset="0"/>
              </a:rPr>
              <a:t>.</a:t>
            </a:r>
            <a:endParaRPr lang="en-US" sz="2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6" y="1749448"/>
            <a:ext cx="276837" cy="221493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968A2FAE-F3AA-005B-2F93-6ADE9DD01E39}"/>
              </a:ext>
            </a:extLst>
          </p:cNvPr>
          <p:cNvSpPr/>
          <p:nvPr/>
        </p:nvSpPr>
        <p:spPr>
          <a:xfrm>
            <a:off x="496119" y="1498969"/>
            <a:ext cx="7521534" cy="2679415"/>
          </a:xfrm>
          <a:prstGeom prst="roundRect">
            <a:avLst>
              <a:gd name="adj" fmla="val 2117"/>
            </a:avLst>
          </a:prstGeom>
          <a:solidFill>
            <a:srgbClr val="F0EDE6"/>
          </a:solidFill>
          <a:ln/>
        </p:spPr>
        <p:txBody>
          <a:bodyPr/>
          <a:lstStyle/>
          <a:p>
            <a:r>
              <a:rPr lang="pt-BR" sz="1200" dirty="0">
                <a:solidFill>
                  <a:srgbClr val="2C2821"/>
                </a:solidFill>
                <a:latin typeface="Alice" pitchFamily="34" charset="0"/>
              </a:rPr>
              <a:t>Estudo da implementação</a:t>
            </a:r>
          </a:p>
          <a:p>
            <a:pPr>
              <a:lnSpc>
                <a:spcPct val="125000"/>
              </a:lnSpc>
            </a:pPr>
            <a:r>
              <a:rPr lang="pt-BR" sz="950" dirty="0">
                <a:solidFill>
                  <a:srgbClr val="2C2821"/>
                </a:solidFill>
                <a:latin typeface="Lora" pitchFamily="34" charset="0"/>
              </a:rPr>
              <a:t>A IA apoiou o estudo da estrutura e das operações da Árvore-B. Ajudou a relacionar a teoria com decisões práticas de implementação.</a:t>
            </a:r>
          </a:p>
          <a:p>
            <a:pPr>
              <a:lnSpc>
                <a:spcPct val="125000"/>
              </a:lnSpc>
            </a:pPr>
            <a:endParaRPr lang="pt-BR" sz="950" dirty="0">
              <a:solidFill>
                <a:srgbClr val="2C2821"/>
              </a:solidFill>
              <a:latin typeface="Lora" pitchFamily="34" charset="0"/>
            </a:endParaRPr>
          </a:p>
          <a:p>
            <a:pPr>
              <a:lnSpc>
                <a:spcPct val="125000"/>
              </a:lnSpc>
            </a:pPr>
            <a:endParaRPr lang="pt-BR" sz="950" dirty="0">
              <a:solidFill>
                <a:srgbClr val="2C2821"/>
              </a:solidFill>
              <a:latin typeface="Lora" pitchFamily="34" charset="0"/>
            </a:endParaRPr>
          </a:p>
          <a:p>
            <a:r>
              <a:rPr lang="pt-BR" sz="1200" dirty="0">
                <a:solidFill>
                  <a:srgbClr val="2C2821"/>
                </a:solidFill>
                <a:latin typeface="Alice" pitchFamily="34" charset="0"/>
              </a:rPr>
              <a:t>Auxílio na compreensão</a:t>
            </a:r>
          </a:p>
          <a:p>
            <a:pPr>
              <a:lnSpc>
                <a:spcPct val="125000"/>
              </a:lnSpc>
            </a:pPr>
            <a:r>
              <a:rPr lang="pt-BR" sz="950" dirty="0">
                <a:solidFill>
                  <a:srgbClr val="2C2821"/>
                </a:solidFill>
                <a:latin typeface="Lora" pitchFamily="34" charset="0"/>
              </a:rPr>
              <a:t>Esclareceu conceitos mais densos, como persistência em disco e remoção recursiva. Permitiu validar o raciocínio antes de codificar.</a:t>
            </a:r>
          </a:p>
          <a:p>
            <a:pPr>
              <a:lnSpc>
                <a:spcPct val="125000"/>
              </a:lnSpc>
            </a:pPr>
            <a:endParaRPr lang="pt-BR" sz="950" dirty="0">
              <a:solidFill>
                <a:srgbClr val="2C2821"/>
              </a:solidFill>
              <a:latin typeface="Lora" pitchFamily="34" charset="0"/>
            </a:endParaRPr>
          </a:p>
          <a:p>
            <a:pPr>
              <a:lnSpc>
                <a:spcPct val="125000"/>
              </a:lnSpc>
            </a:pPr>
            <a:endParaRPr lang="pt-BR" sz="950" dirty="0">
              <a:solidFill>
                <a:srgbClr val="2C2821"/>
              </a:solidFill>
              <a:latin typeface="Lora" pitchFamily="34" charset="0"/>
            </a:endParaRPr>
          </a:p>
          <a:p>
            <a:r>
              <a:rPr lang="pt-BR" sz="1200" dirty="0">
                <a:solidFill>
                  <a:srgbClr val="2C2821"/>
                </a:solidFill>
                <a:latin typeface="Alice" pitchFamily="34" charset="0"/>
              </a:rPr>
              <a:t>Revisão de código</a:t>
            </a:r>
          </a:p>
          <a:p>
            <a:pPr>
              <a:lnSpc>
                <a:spcPct val="125000"/>
              </a:lnSpc>
            </a:pPr>
            <a:r>
              <a:rPr lang="pt-BR" sz="950" dirty="0">
                <a:solidFill>
                  <a:srgbClr val="2C2821"/>
                </a:solidFill>
                <a:latin typeface="Lora" pitchFamily="34" charset="0"/>
              </a:rPr>
              <a:t>Atuou na revisão crítica, apontando inconsistências e casos de borda. Disso resultaram refatorações e a criação de métodos auxiliares.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5936" y="364957"/>
            <a:ext cx="171636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50335"/>
            <a:ext cx="676907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Dificuldades, Vantagens e Desvantagens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305923"/>
            <a:ext cx="2641774" cy="19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1466732"/>
            <a:ext cx="17944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Dificuldades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: ‘</a:t>
            </a:r>
            <a:r>
              <a:rPr lang="en-US" sz="135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adicionar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’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1773243"/>
            <a:ext cx="2243956" cy="1365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Gestão de ponteiros no split/merge, persistência do cabeçalho, implementação do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removeRecursive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com todos os casos, depuração de nós órfãos e controle de I/O.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1551" y="1305923"/>
            <a:ext cx="2641774" cy="19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78560" y="146673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Vantagen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: </a:t>
            </a:r>
            <a:r>
              <a:rPr lang="en-US" sz="135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adicionar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78560" y="1773243"/>
            <a:ext cx="2243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Altura logarítmica garantida, poucos acessos a disco por operação, naturalmente balanceada, suporte eficiente a buscas por intervalo, escalável para grandes volumes.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6033" y="1305923"/>
            <a:ext cx="2641774" cy="19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3042" y="1466732"/>
            <a:ext cx="19026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Desvantagens</a:t>
            </a: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: </a:t>
            </a:r>
            <a:r>
              <a:rPr lang="en-US" sz="1350" dirty="0" err="1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adicionar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243042" y="1773243"/>
            <a:ext cx="2243956" cy="1365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Implementação mais complexa que AVL/BST, overhead de espaço nos nós, custo de split/merge e crescimento contínuo do arquivo </a:t>
            </a:r>
            <a:r>
              <a:rPr lang="en-US" sz="11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.dat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sem reaproveitamento.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52131" y="406003"/>
            <a:ext cx="1418853" cy="275109"/>
          </a:xfrm>
          <a:prstGeom prst="roundRect">
            <a:avLst>
              <a:gd name="adj" fmla="val 6087"/>
            </a:avLst>
          </a:prstGeom>
          <a:noFill/>
          <a:ln w="4763">
            <a:solidFill>
              <a:srgbClr val="1B5F3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640609" y="452586"/>
            <a:ext cx="1699096" cy="181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52131" y="736029"/>
            <a:ext cx="5794168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Aplicações Práticas das </a:t>
            </a:r>
            <a:r>
              <a:rPr lang="en-US" sz="27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Árvores</a:t>
            </a: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B:</a:t>
            </a:r>
            <a:b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</a:b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Aqui </a:t>
            </a:r>
            <a:r>
              <a:rPr lang="en-US" sz="27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eu</a:t>
            </a: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7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fiquei</a:t>
            </a: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7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na</a:t>
            </a: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7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dúvida</a:t>
            </a: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se era </a:t>
            </a:r>
            <a:r>
              <a:rPr lang="en-US" sz="27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sobre</a:t>
            </a: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a </a:t>
            </a:r>
            <a:r>
              <a:rPr lang="en-US" sz="27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nossa</a:t>
            </a: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</a:t>
            </a:r>
            <a:r>
              <a:rPr lang="en-US" sz="2700" dirty="0" err="1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árvore</a:t>
            </a: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…</a:t>
            </a:r>
            <a:endParaRPr lang="en-US" sz="2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132" y="1814215"/>
            <a:ext cx="313824" cy="2790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2857" y="1862138"/>
            <a:ext cx="362180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Bancos de Dados Relacionais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002857" y="2162547"/>
            <a:ext cx="69481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MySQL InnoDB e PostgreSQL usam Árvores B+ nos índices para localizar registros em O(log n) acessos a disco.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132" y="2880196"/>
            <a:ext cx="313824" cy="2790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2856" y="2928119"/>
            <a:ext cx="28370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Sistemas de Arquivos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002857" y="3228529"/>
            <a:ext cx="69481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NTFS, HFS+, APFS e ext4 utilizam Árvores B/B+ para organizar diretórios e localizar blocos de arquivos.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131" y="3946178"/>
            <a:ext cx="313825" cy="2790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2856" y="3994100"/>
            <a:ext cx="283705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Bancos NoSQL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002857" y="4294510"/>
            <a:ext cx="69481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LevelDB, RocksDB e SQLite combinam LSM-trees com Árvores B para armazenamento persistente de chave-valor.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3546" y="199907"/>
            <a:ext cx="176428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3729" y="48528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Conclusão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61713" y="921501"/>
            <a:ext cx="25667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O que redigir (a completar)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8937" y="1282631"/>
            <a:ext cx="3837783" cy="353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r>
              <a:rPr lang="pt-BR" sz="2500" dirty="0">
                <a:solidFill>
                  <a:srgbClr val="2C2821"/>
                </a:solidFill>
                <a:latin typeface="Alice" pitchFamily="34" charset="0"/>
              </a:rPr>
              <a:t>Contadores de I/O não são confiáveis</a:t>
            </a:r>
          </a:p>
          <a:p>
            <a:endParaRPr lang="pt-BR" sz="2500" dirty="0">
              <a:solidFill>
                <a:srgbClr val="2C2821"/>
              </a:solidFill>
              <a:latin typeface="Alice" pitchFamily="34" charset="0"/>
            </a:endParaRPr>
          </a:p>
          <a:p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Em todas as execuções, </a:t>
            </a:r>
            <a:r>
              <a:rPr lang="pt-BR" sz="2300" dirty="0" err="1">
                <a:solidFill>
                  <a:srgbClr val="2C2821"/>
                </a:solidFill>
                <a:latin typeface="Lora" pitchFamily="34" charset="0"/>
              </a:rPr>
              <a:t>reads</a:t>
            </a:r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 == </a:t>
            </a:r>
            <a:r>
              <a:rPr lang="pt-BR" sz="2300" dirty="0" err="1">
                <a:solidFill>
                  <a:srgbClr val="2C2821"/>
                </a:solidFill>
                <a:latin typeface="Lora" pitchFamily="34" charset="0"/>
              </a:rPr>
              <a:t>numKeys</a:t>
            </a:r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 e </a:t>
            </a:r>
            <a:r>
              <a:rPr lang="pt-BR" sz="2300" dirty="0" err="1">
                <a:solidFill>
                  <a:srgbClr val="2C2821"/>
                </a:solidFill>
                <a:latin typeface="Lora" pitchFamily="34" charset="0"/>
              </a:rPr>
              <a:t>writes</a:t>
            </a:r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 == </a:t>
            </a:r>
            <a:r>
              <a:rPr lang="pt-BR" sz="2300" dirty="0" err="1">
                <a:solidFill>
                  <a:srgbClr val="2C2821"/>
                </a:solidFill>
                <a:latin typeface="Lora" pitchFamily="34" charset="0"/>
              </a:rPr>
              <a:t>numKeys</a:t>
            </a:r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 + 1, o que não reflete os O(h) acessos esperados. A causa provável é a ausência do diretório tmp/: o </a:t>
            </a:r>
            <a:r>
              <a:rPr lang="pt-BR" sz="2300" dirty="0" err="1">
                <a:solidFill>
                  <a:srgbClr val="2C2821"/>
                </a:solidFill>
                <a:latin typeface="Lora" pitchFamily="34" charset="0"/>
              </a:rPr>
              <a:t>fstream</a:t>
            </a:r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 falha em silêncio e os contadores incrementam sem I/O real — o que também explica </a:t>
            </a:r>
            <a:r>
              <a:rPr lang="pt-BR" sz="2300" dirty="0" err="1">
                <a:solidFill>
                  <a:srgbClr val="2C2821"/>
                </a:solidFill>
                <a:latin typeface="Lora" pitchFamily="34" charset="0"/>
              </a:rPr>
              <a:t>tamanho_bytes</a:t>
            </a:r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 = 0. Esses valores devem ser descartados como métricas de disco.</a:t>
            </a:r>
          </a:p>
          <a:p>
            <a:endParaRPr lang="pt-BR" sz="2300" dirty="0">
              <a:solidFill>
                <a:srgbClr val="2C2821"/>
              </a:solidFill>
              <a:latin typeface="Lora" pitchFamily="34" charset="0"/>
            </a:endParaRPr>
          </a:p>
          <a:p>
            <a:r>
              <a:rPr lang="pt-BR" sz="2500" dirty="0">
                <a:solidFill>
                  <a:srgbClr val="2C2821"/>
                </a:solidFill>
                <a:latin typeface="Alice" pitchFamily="34" charset="0"/>
              </a:rPr>
              <a:t>Tempo escala linearmente com </a:t>
            </a:r>
            <a:r>
              <a:rPr lang="pt-BR" sz="2500" dirty="0" err="1">
                <a:solidFill>
                  <a:srgbClr val="2C2821"/>
                </a:solidFill>
                <a:latin typeface="Alice" pitchFamily="34" charset="0"/>
              </a:rPr>
              <a:t>numKeys</a:t>
            </a:r>
            <a:endParaRPr lang="pt-BR" sz="2500" dirty="0">
              <a:solidFill>
                <a:srgbClr val="2C2821"/>
              </a:solidFill>
              <a:latin typeface="Alice" pitchFamily="34" charset="0"/>
            </a:endParaRPr>
          </a:p>
          <a:p>
            <a:endParaRPr lang="pt-BR" sz="2500" dirty="0">
              <a:solidFill>
                <a:srgbClr val="2C2821"/>
              </a:solidFill>
              <a:latin typeface="Alice" pitchFamily="34" charset="0"/>
            </a:endParaRPr>
          </a:p>
          <a:p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As durações medidas com </a:t>
            </a:r>
            <a:r>
              <a:rPr lang="pt-BR" sz="2300" dirty="0" err="1">
                <a:solidFill>
                  <a:srgbClr val="2C2821"/>
                </a:solidFill>
                <a:latin typeface="Lora" pitchFamily="34" charset="0"/>
              </a:rPr>
              <a:t>std</a:t>
            </a:r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::</a:t>
            </a:r>
            <a:r>
              <a:rPr lang="pt-BR" sz="2300" dirty="0" err="1">
                <a:solidFill>
                  <a:srgbClr val="2C2821"/>
                </a:solidFill>
                <a:latin typeface="Lora" pitchFamily="34" charset="0"/>
              </a:rPr>
              <a:t>chrono</a:t>
            </a:r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 são válidas e crescem proporcionalmente ao volume: ~100× mais chaves resultam em ~100× mais tempo, indicando custo O(n). Sem I/O real, a diferença entre entrada sequencial e aleatória é pequena (&lt; 20%).</a:t>
            </a:r>
          </a:p>
          <a:p>
            <a:endParaRPr lang="pt-BR" sz="2800" dirty="0">
              <a:solidFill>
                <a:srgbClr val="2C2821"/>
              </a:solidFill>
              <a:latin typeface="Lora" pitchFamily="34" charset="0"/>
            </a:endParaRPr>
          </a:p>
          <a:p>
            <a:r>
              <a:rPr lang="pt-BR" sz="2500" dirty="0">
                <a:solidFill>
                  <a:srgbClr val="2C2821"/>
                </a:solidFill>
                <a:latin typeface="Alice" pitchFamily="34" charset="0"/>
              </a:rPr>
              <a:t>Impacto da ordem M</a:t>
            </a:r>
          </a:p>
          <a:p>
            <a:endParaRPr lang="pt-BR" sz="2500" dirty="0">
              <a:solidFill>
                <a:srgbClr val="2C2821"/>
              </a:solidFill>
              <a:latin typeface="Alice" pitchFamily="34" charset="0"/>
            </a:endParaRPr>
          </a:p>
          <a:p>
            <a:r>
              <a:rPr lang="pt-BR" sz="2300" dirty="0">
                <a:solidFill>
                  <a:srgbClr val="2C2821"/>
                </a:solidFill>
                <a:latin typeface="Lora" pitchFamily="34" charset="0"/>
              </a:rPr>
              <a:t>M=3 é o mais rápido e M=1000 o mais lento (~7,5× para 100 mil chaves), porque nós grandes exigem zero-inicialização de O(M) posições na pilha. Com I/O real, o efeito se inverteria: M maior reduz a altura da árvore (de ~17 para ~2 níveis) e o número de acessos a disco.</a:t>
            </a:r>
          </a:p>
        </p:txBody>
      </p:sp>
      <p:sp>
        <p:nvSpPr>
          <p:cNvPr id="10" name="Text 7"/>
          <p:cNvSpPr/>
          <p:nvPr/>
        </p:nvSpPr>
        <p:spPr>
          <a:xfrm>
            <a:off x="4707311" y="128263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Referências Indicadas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707311" y="1645847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CORMEN et al. </a:t>
            </a:r>
            <a:r>
              <a:rPr lang="en-US" sz="1100" i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Introduction to Algorithms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4. ed. MIT Press, 2022. Cap. 18.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1007</Words>
  <Application>Microsoft Office PowerPoint</Application>
  <PresentationFormat>Apresentação na tela (16:9)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Consolas</vt:lpstr>
      <vt:lpstr>Arial</vt:lpstr>
      <vt:lpstr>Calibri</vt:lpstr>
      <vt:lpstr>Lora</vt:lpstr>
      <vt:lpstr>Alice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Yuri Sanerip Calzzani</cp:lastModifiedBy>
  <cp:revision>2</cp:revision>
  <dcterms:created xsi:type="dcterms:W3CDTF">2026-06-15T23:55:19Z</dcterms:created>
  <dcterms:modified xsi:type="dcterms:W3CDTF">2026-06-16T12:30:04Z</dcterms:modified>
</cp:coreProperties>
</file>